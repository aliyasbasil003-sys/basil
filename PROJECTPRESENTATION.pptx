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10" d="100"/>
          <a:sy n="10" d="100"/>
        </p:scale>
        <p:origin x="-90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view3D>
      <c:rotX val="15"/>
      <c:rotY val="2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progress (%)</c:v>
                </c:pt>
              </c:strCache>
            </c:strRef>
          </c:tx>
          <c:spPr>
            <a:solidFill>
              <a:srgbClr val="21A366"/>
            </a:solidFill>
            <a:effectLst>
              <a:outerShdw blurRad="114300" dist="38100" dir="2700000" algn="tl" rotWithShape="0">
                <a:srgbClr val="000000">
                  <a:alpha val="45000"/>
                </a:srgbClr>
              </a:outerShdw>
            </a:effectLst>
            <a:sp3d prstMaterial="metal">
              <a:bevelT w="63500" h="25400"/>
            </a:sp3d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Trebuchet M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E-Comm</c:v>
                </c:pt>
                <c:pt idx="1">
                  <c:v>Events</c:v>
                </c:pt>
                <c:pt idx="2">
                  <c:v>Invent.</c:v>
                </c:pt>
                <c:pt idx="3">
                  <c:v>Mobile</c:v>
                </c:pt>
                <c:pt idx="4">
                  <c:v>Office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64</c:v>
                </c:pt>
                <c:pt idx="2">
                  <c:v>55</c:v>
                </c:pt>
                <c:pt idx="3">
                  <c:v>82</c:v>
                </c:pt>
                <c:pt idx="4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B3-493E-8F84-14C3791078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gapDepth val="120"/>
        <c:shape val="box"/>
        <c:axId val="2094734554"/>
        <c:axId val="2094734552"/>
        <c:axId val="2094734556"/>
      </c:bar3D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EFF6"/>
                </a:solidFill>
                <a:latin typeface="Trebuchet M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3A517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D5DFEA"/>
                </a:solidFill>
                <a:latin typeface="Trebuchet MS"/>
              </a:defRPr>
            </a:pPr>
            <a:endParaRPr lang="en-US"/>
          </a:p>
        </c:txPr>
        <c:crossAx val="2094734554"/>
        <c:crosses val="autoZero"/>
        <c:crossBetween val="between"/>
      </c:valAx>
      <c:serAx>
        <c:axId val="2094734556"/>
        <c:scaling>
          <c:orientation val="minMax"/>
        </c:scaling>
        <c:delete val="1"/>
        <c:axPos val="b"/>
        <c:majorTickMark val="cross"/>
        <c:minorTickMark val="cross"/>
        <c:tickLblPos val="nextTo"/>
        <c:crossAx val="2094734552"/>
        <c:crosses val="autoZero"/>
      </c:serAx>
      <c:spPr>
        <a:noFill/>
        <a:ln w="12700" cap="flat">
          <a:solidFill>
            <a:srgbClr val="0B1F3A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1965960"/>
            <a:ext cx="694944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566928"/>
            <a:ext cx="777240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5116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ti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6">
              <a:alpha val="8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Edg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ANALYTICAL</a:t>
            </a:r>
            <a:r>
              <a:rPr lang="en-US" sz="1100" b="1" kern="0" spc="400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REPORT  ·  2026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160020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 Excel: </a:t>
            </a: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</a:t>
            </a: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</a:t>
            </a: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Confident</a:t>
            </a: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Decisions</a:t>
            </a:r>
            <a:endParaRPr lang="en-US" sz="2800" dirty="0"/>
          </a:p>
        </p:txBody>
      </p:sp>
      <p:sp>
        <p:nvSpPr>
          <p:cNvPr id="6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71600"/>
            <a:ext cx="1005840" cy="50292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338328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Excel is, what it does best, and the analytical value it returns — proven against a live project dashboard.</a:t>
            </a:r>
            <a:endParaRPr lang="en-US" sz="1300" dirty="0"/>
          </a:p>
        </p:txBody>
      </p:sp>
      <p:sp>
        <p:nvSpPr>
          <p:cNvPr id="8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4324350"/>
            <a:ext cx="2560320" cy="36576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447167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A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Prepared for the operations and analytics team</a:t>
            </a:r>
            <a:endParaRPr lang="en-US" sz="1000" dirty="0"/>
          </a:p>
        </p:txBody>
      </p:sp>
      <p:pic>
        <p:nvPicPr>
          <p:cNvPr id="90" name="Title visual" descr="Low-lit analyst workspace: a laptop glowing with abstract green data light beside a notebook and pen on a dark charcoal desk, with warm amber accent lighting."/>
          <p:cNvPicPr>
            <a:picLocks noChangeAspect="1"/>
          </p:cNvPicPr>
          <p:nvPr/>
        </p:nvPicPr>
        <p:blipFill>
          <a:blip r:embed="rId4"/>
          <a:srcRect l="825" r="825"/>
          <a:stretch>
            <a:fillRect/>
          </a:stretch>
        </p:blipFill>
        <p:spPr>
          <a:xfrm>
            <a:off x="5349240" y="0"/>
            <a:ext cx="379476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ti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2A2A30">
                  <a:alpha val="78000"/>
                </a:srgbClr>
              </a:gs>
              <a:gs pos="45000">
                <a:srgbClr val="18181C">
                  <a:alpha val="74000"/>
                </a:srgbClr>
              </a:gs>
              <a:gs pos="100000">
                <a:srgbClr val="0B0B0E">
                  <a:alpha val="8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CONTENTS</a:t>
            </a:r>
            <a:endParaRPr lang="en-US" sz="10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56692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Sections, One Argument for Excel</a:t>
            </a:r>
            <a:endParaRPr lang="en-US" sz="28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600200"/>
            <a:ext cx="2456688" cy="1248156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7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600200"/>
            <a:ext cx="50292" cy="1248156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86968" y="1746504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· Introduction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6968" y="2075688"/>
            <a:ext cx="20726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 spreadsheet still sits at the centre of business work.</a:t>
            </a:r>
            <a:endParaRPr lang="en-US" sz="100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3656" y="1600200"/>
            <a:ext cx="2456688" cy="1248156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11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3656" y="1600200"/>
            <a:ext cx="50292" cy="1248156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544824" y="1746504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Meaning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44824" y="2075688"/>
            <a:ext cx="20726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Excel actually is, and the vocabulary that matters.</a:t>
            </a:r>
            <a:endParaRPr lang="en-US" sz="1000" dirty="0"/>
          </a:p>
        </p:txBody>
      </p:sp>
      <p:sp>
        <p:nvSpPr>
          <p:cNvPr id="1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1512" y="1600200"/>
            <a:ext cx="2456688" cy="1248156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15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1512" y="1600200"/>
            <a:ext cx="50292" cy="1248156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02680" y="1746504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· Capabilities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02680" y="2075688"/>
            <a:ext cx="20726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features, formulas and charts that carry the workload.</a:t>
            </a:r>
            <a:endParaRPr lang="en-US" sz="1000" dirty="0"/>
          </a:p>
        </p:txBody>
      </p:sp>
      <p:sp>
        <p:nvSpPr>
          <p:cNvPr id="1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049524"/>
            <a:ext cx="2456688" cy="1248156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19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049524"/>
            <a:ext cx="50292" cy="1248156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86968" y="3195828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· Case Study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86968" y="3525012"/>
            <a:ext cx="20726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working project dashboard, taken apart panel by panel.</a:t>
            </a:r>
            <a:endParaRPr lang="en-US" sz="1000" dirty="0"/>
          </a:p>
        </p:txBody>
      </p:sp>
      <p:sp>
        <p:nvSpPr>
          <p:cNvPr id="2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3656" y="3049524"/>
            <a:ext cx="2456688" cy="1248156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23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3656" y="3049524"/>
            <a:ext cx="50292" cy="1248156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544824" y="3195828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· Evaluation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44824" y="3525012"/>
            <a:ext cx="20726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Excel earns its keep, and where it runs out of road.</a:t>
            </a:r>
            <a:endParaRPr lang="en-US" sz="1000" dirty="0"/>
          </a:p>
        </p:txBody>
      </p:sp>
      <p:sp>
        <p:nvSpPr>
          <p:cNvPr id="2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1512" y="3049524"/>
            <a:ext cx="2456688" cy="1248156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27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1512" y="3049524"/>
            <a:ext cx="50292" cy="1248156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202680" y="3195828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· Summary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02680" y="3525012"/>
            <a:ext cx="20726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findings that matter and what we recommend next.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4663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Excel — Analytical Report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63840" y="46634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1A3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ti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2A2A30">
                  <a:alpha val="70000"/>
                </a:srgbClr>
              </a:gs>
              <a:gs pos="45000">
                <a:srgbClr val="18181C">
                  <a:alpha val="66000"/>
                </a:srgbClr>
              </a:gs>
              <a:gs pos="100000">
                <a:srgbClr val="0B0B0E">
                  <a:alpha val="72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10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56692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Department Already Runs on Excel</a:t>
            </a:r>
            <a:endParaRPr lang="en-US" sz="28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75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 is the common language of business data — finance, operations, HR and project teams all work in it </a:t>
            </a:r>
            <a:r>
              <a:rPr lang="en-US" sz="12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day</a:t>
            </a: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25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342900" indent="-342900">
              <a:lnSpc>
                <a:spcPts val="1875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</a:t>
            </a:r>
            <a:r>
              <a:rPr lang="en-US" sz="12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closes the gap between </a:t>
            </a: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records and decisions: data in, calculation applied, insight out.</a:t>
            </a:r>
            <a:endParaRPr lang="en-US" sz="125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342900" indent="-342900">
              <a:lnSpc>
                <a:spcPts val="1875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Its </a:t>
            </a:r>
            <a:r>
              <a:rPr lang="en-US" sz="12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advantage </a:t>
            </a: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</a:t>
            </a:r>
            <a:r>
              <a:rPr lang="en-US" sz="12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reach </a:t>
            </a: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</a:t>
            </a:r>
            <a:r>
              <a:rPr lang="en-US" sz="12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manager can </a:t>
            </a: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working model</a:t>
            </a:r>
            <a:r>
              <a:rPr lang="en-US" sz="12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without waiting on a developer</a:t>
            </a: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25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342900" indent="-342900">
              <a:lnSpc>
                <a:spcPts val="1875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report </a:t>
            </a:r>
            <a:r>
              <a:rPr lang="en-US" sz="12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sets out </a:t>
            </a: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Excel is, what it does, and </a:t>
            </a:r>
            <a:r>
              <a:rPr lang="en-US" sz="12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</a:t>
            </a: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</a:t>
            </a:r>
            <a:r>
              <a:rPr lang="en-US" sz="12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worth</a:t>
            </a: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Qu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7880" y="1600200"/>
            <a:ext cx="2560320" cy="2331720"/>
          </a:xfrm>
          <a:prstGeom prst="rect">
            <a:avLst/>
          </a:prstGeom>
          <a:gradFill rotWithShape="1">
            <a:gsLst>
              <a:gs pos="0">
                <a:srgbClr val="3C3C48">
                  <a:alpha val="94000"/>
                </a:srgbClr>
              </a:gs>
              <a:gs pos="45000">
                <a:srgbClr val="26262F">
                  <a:alpha val="90000"/>
                </a:srgbClr>
              </a:gs>
              <a:gs pos="100000">
                <a:srgbClr val="141419">
                  <a:alpha val="95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126480" y="1828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“If it can be counted, someone in the business is </a:t>
            </a:r>
            <a:r>
              <a:rPr lang="en-US" sz="1300" i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</a:t>
            </a: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counting it in a spreadsheet.”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3200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</a:t>
            </a:r>
            <a:r>
              <a:rPr lang="en-US" sz="9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everyday</a:t>
            </a:r>
            <a:r>
              <a:rPr lang="en-US" sz="9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reality of enterprise reporting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4663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Excel — Analytical Report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0" y="46634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1A3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ti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FFFFF">
                  <a:alpha val="85000"/>
                </a:srgbClr>
              </a:gs>
              <a:gs pos="45000">
                <a:srgbClr val="F7F5F0">
                  <a:alpha val="82000"/>
                </a:srgbClr>
              </a:gs>
              <a:gs pos="100000">
                <a:srgbClr val="E4E0D7">
                  <a:alpha val="86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1D8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MEANING</a:t>
            </a:r>
            <a:endParaRPr lang="en-US" sz="10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56692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3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Grid, an Engine, a Report</a:t>
            </a:r>
            <a:endParaRPr lang="en-US" sz="28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Definit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600200"/>
            <a:ext cx="7772400" cy="9601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21A366"/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7" name="Definition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600200"/>
            <a:ext cx="54864" cy="960120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7360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13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 Excel is a spreadsheet application that </a:t>
            </a:r>
            <a:r>
              <a:rPr lang="en-US" sz="1300" i="1">
                <a:solidFill>
                  <a:srgbClr val="13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holds </a:t>
            </a:r>
            <a:r>
              <a:rPr lang="en-US" sz="1300" i="1" dirty="0">
                <a:solidFill>
                  <a:srgbClr val="13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 a grid of rows and columns, </a:t>
            </a:r>
            <a:r>
              <a:rPr lang="en-US" sz="1300" i="1">
                <a:solidFill>
                  <a:srgbClr val="13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</a:t>
            </a:r>
            <a:r>
              <a:rPr lang="en-US" sz="1300" i="1" dirty="0">
                <a:solidFill>
                  <a:srgbClr val="13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applies formulas, functions and visual tools to turn that data into calculation, analysis and reporting.</a:t>
            </a:r>
            <a:endParaRPr lang="en-US" sz="1300" dirty="0"/>
          </a:p>
        </p:txBody>
      </p:sp>
      <p:sp>
        <p:nvSpPr>
          <p:cNvPr id="9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788920"/>
            <a:ext cx="1792224" cy="1600200"/>
          </a:xfrm>
          <a:prstGeom prst="rect">
            <a:avLst/>
          </a:prstGeom>
          <a:gradFill rotWithShape="1">
            <a:gsLst>
              <a:gs pos="0">
                <a:srgbClr val="FFFFFF">
                  <a:alpha val="92000"/>
                </a:srgbClr>
              </a:gs>
              <a:gs pos="45000">
                <a:srgbClr val="F4F2EC">
                  <a:alpha val="90000"/>
                </a:srgbClr>
              </a:gs>
              <a:gs pos="100000">
                <a:srgbClr val="DFDCD4">
                  <a:alpha val="92000"/>
                </a:srgbClr>
              </a:gs>
            </a:gsLst>
            <a:lin ang="2700000" scaled="0"/>
          </a:gradFill>
          <a:ln w="9525">
            <a:solidFill>
              <a:srgbClr val="9AA0A8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10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788920"/>
            <a:ext cx="50292" cy="1600200"/>
          </a:xfrm>
          <a:prstGeom prst="rect">
            <a:avLst/>
          </a:prstGeom>
          <a:solidFill>
            <a:srgbClr val="1D8A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86968" y="2935224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Workbook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86968" y="3264408"/>
            <a:ext cx="1408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file itself — </a:t>
            </a:r>
            <a:r>
              <a:rPr lang="en-US" sz="100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</a:t>
            </a: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 holding </a:t>
            </a:r>
            <a:r>
              <a:rPr lang="en-US" sz="100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sheet</a:t>
            </a: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000" dirty="0"/>
          </a:p>
        </p:txBody>
      </p:sp>
      <p:sp>
        <p:nvSpPr>
          <p:cNvPr id="13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79192" y="2788920"/>
            <a:ext cx="1792224" cy="1600200"/>
          </a:xfrm>
          <a:prstGeom prst="rect">
            <a:avLst/>
          </a:prstGeom>
          <a:gradFill rotWithShape="1">
            <a:gsLst>
              <a:gs pos="0">
                <a:srgbClr val="FFFFFF">
                  <a:alpha val="92000"/>
                </a:srgbClr>
              </a:gs>
              <a:gs pos="45000">
                <a:srgbClr val="F4F2EC">
                  <a:alpha val="90000"/>
                </a:srgbClr>
              </a:gs>
              <a:gs pos="100000">
                <a:srgbClr val="DFDCD4">
                  <a:alpha val="92000"/>
                </a:srgbClr>
              </a:gs>
            </a:gsLst>
            <a:lin ang="2700000" scaled="0"/>
          </a:gradFill>
          <a:ln w="9525">
            <a:solidFill>
              <a:srgbClr val="9AA0A8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14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79192" y="2788920"/>
            <a:ext cx="50292" cy="1600200"/>
          </a:xfrm>
          <a:prstGeom prst="rect">
            <a:avLst/>
          </a:prstGeom>
          <a:solidFill>
            <a:srgbClr val="1D8A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880360" y="2935224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Worksheet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880360" y="3264408"/>
            <a:ext cx="1408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single tabbed grid where data is entered and calculated.</a:t>
            </a:r>
            <a:endParaRPr lang="en-US" sz="1000" dirty="0"/>
          </a:p>
        </p:txBody>
      </p:sp>
      <p:sp>
        <p:nvSpPr>
          <p:cNvPr id="17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788920"/>
            <a:ext cx="1792224" cy="1600200"/>
          </a:xfrm>
          <a:prstGeom prst="rect">
            <a:avLst/>
          </a:prstGeom>
          <a:gradFill rotWithShape="1">
            <a:gsLst>
              <a:gs pos="0">
                <a:srgbClr val="FFFFFF">
                  <a:alpha val="92000"/>
                </a:srgbClr>
              </a:gs>
              <a:gs pos="45000">
                <a:srgbClr val="F4F2EC">
                  <a:alpha val="90000"/>
                </a:srgbClr>
              </a:gs>
              <a:gs pos="100000">
                <a:srgbClr val="DFDCD4">
                  <a:alpha val="92000"/>
                </a:srgbClr>
              </a:gs>
            </a:gsLst>
            <a:lin ang="2700000" scaled="0"/>
          </a:gradFill>
          <a:ln w="9525">
            <a:solidFill>
              <a:srgbClr val="9AA0A8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18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788920"/>
            <a:ext cx="50292" cy="1600200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73752" y="2935224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Cell &amp; Range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73752" y="3264408"/>
            <a:ext cx="1408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addressable unit (A1) and </a:t>
            </a:r>
            <a:r>
              <a:rPr lang="en-US" sz="100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any</a:t>
            </a: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block of them (A1:D20).</a:t>
            </a:r>
            <a:endParaRPr lang="en-US" sz="1000" dirty="0"/>
          </a:p>
        </p:txBody>
      </p:sp>
      <p:sp>
        <p:nvSpPr>
          <p:cNvPr id="21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5976" y="2788920"/>
            <a:ext cx="1792224" cy="1600200"/>
          </a:xfrm>
          <a:prstGeom prst="rect">
            <a:avLst/>
          </a:prstGeom>
          <a:gradFill rotWithShape="1">
            <a:gsLst>
              <a:gs pos="0">
                <a:srgbClr val="FFFFFF">
                  <a:alpha val="92000"/>
                </a:srgbClr>
              </a:gs>
              <a:gs pos="45000">
                <a:srgbClr val="F4F2EC">
                  <a:alpha val="90000"/>
                </a:srgbClr>
              </a:gs>
              <a:gs pos="100000">
                <a:srgbClr val="DFDCD4">
                  <a:alpha val="92000"/>
                </a:srgbClr>
              </a:gs>
            </a:gsLst>
            <a:lin ang="2700000" scaled="0"/>
          </a:gradFill>
          <a:ln w="9525">
            <a:solidFill>
              <a:srgbClr val="9AA0A8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22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5976" y="2788920"/>
            <a:ext cx="50292" cy="1600200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867144" y="2935224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67144" y="3264408"/>
            <a:ext cx="1408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instruction </a:t>
            </a:r>
            <a:r>
              <a:rPr lang="en-US" sz="100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starting </a:t>
            </a: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= that </a:t>
            </a:r>
            <a:r>
              <a:rPr lang="en-US" sz="100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 </a:t>
            </a: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r>
              <a:rPr lang="en-US" sz="100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live</a:t>
            </a: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result.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4663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Excel — Analytical Report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6634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D8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ti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2A2A30">
                  <a:alpha val="78000"/>
                </a:srgbClr>
              </a:gs>
              <a:gs pos="45000">
                <a:srgbClr val="18181C">
                  <a:alpha val="74000"/>
                </a:srgbClr>
              </a:gs>
              <a:gs pos="100000">
                <a:srgbClr val="0B0B0E">
                  <a:alpha val="8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VALUE</a:t>
            </a:r>
            <a:endParaRPr lang="en-US" sz="10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56692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</a:t>
            </a: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Already Depends on It</a:t>
            </a:r>
            <a:endParaRPr lang="en-US" sz="28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600200"/>
            <a:ext cx="2456688" cy="859536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7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600200"/>
            <a:ext cx="50292" cy="859536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86968" y="1746504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6968" y="2075688"/>
            <a:ext cx="207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Budgets, forecasts and cash-flow models.</a:t>
            </a:r>
            <a:endParaRPr lang="en-US" sz="100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3656" y="1600200"/>
            <a:ext cx="2456688" cy="859536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11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3656" y="1600200"/>
            <a:ext cx="50292" cy="859536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544824" y="1746504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44824" y="2075688"/>
            <a:ext cx="207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Inventory, scheduling and capacity.</a:t>
            </a:r>
            <a:endParaRPr lang="en-US" sz="1000" dirty="0"/>
          </a:p>
        </p:txBody>
      </p:sp>
      <p:sp>
        <p:nvSpPr>
          <p:cNvPr id="1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1512" y="1600200"/>
            <a:ext cx="2456688" cy="859536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15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1512" y="1600200"/>
            <a:ext cx="50292" cy="859536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02680" y="1746504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02680" y="2075688"/>
            <a:ext cx="207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Pipeline, quota and commission.</a:t>
            </a:r>
            <a:endParaRPr lang="en-US" sz="1000" dirty="0"/>
          </a:p>
        </p:txBody>
      </p:sp>
      <p:sp>
        <p:nvSpPr>
          <p:cNvPr id="1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660904"/>
            <a:ext cx="2456688" cy="859536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19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660904"/>
            <a:ext cx="50292" cy="859536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86968" y="2807208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Resources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86968" y="3136392"/>
            <a:ext cx="207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Headcount, payroll and attendance.</a:t>
            </a:r>
            <a:endParaRPr lang="en-US" sz="1000" dirty="0"/>
          </a:p>
        </p:txBody>
      </p:sp>
      <p:sp>
        <p:nvSpPr>
          <p:cNvPr id="2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3656" y="2660904"/>
            <a:ext cx="2456688" cy="859536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23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3656" y="2660904"/>
            <a:ext cx="50292" cy="859536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544824" y="2807208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Teams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44824" y="3136392"/>
            <a:ext cx="207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status and milestone progress.</a:t>
            </a:r>
            <a:endParaRPr lang="en-US" sz="1000" dirty="0"/>
          </a:p>
        </p:txBody>
      </p:sp>
      <p:sp>
        <p:nvSpPr>
          <p:cNvPr id="2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1512" y="2660904"/>
            <a:ext cx="2456688" cy="859536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27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1512" y="2660904"/>
            <a:ext cx="50292" cy="859536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202680" y="2807208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Leadership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02680" y="3136392"/>
            <a:ext cx="207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Dashboards that summarise it all.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3703320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750M+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85800" y="416052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>
                <a:solidFill>
                  <a:srgbClr val="9A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people worldwide work in spreadsheet software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76600" y="3703320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1M+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3276600" y="416052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>
                <a:solidFill>
                  <a:srgbClr val="9A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rows a single modern worksheet can hold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67400" y="3703320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5867400" y="416052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>
                <a:solidFill>
                  <a:srgbClr val="9A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functions available without writing any code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" y="4663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Excel — Analytical Report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863840" y="46634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1A3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ti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6">
              <a:alpha val="7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Edg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TWO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1965960"/>
            <a:ext cx="694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Capabilities</a:t>
            </a:r>
            <a:endParaRPr lang="en-US" sz="2800" dirty="0"/>
          </a:p>
        </p:txBody>
      </p:sp>
      <p:sp>
        <p:nvSpPr>
          <p:cNvPr id="6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Features, formulas, analysis tools and visualisation — the four pillars that carry Excel's analytical weight.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ti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6">
              <a:alpha val="6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CAPABILITIES</a:t>
            </a:r>
            <a:endParaRPr lang="en-US" sz="10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56692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Features </a:t>
            </a: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Carry Most of </a:t>
            </a: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Workload</a:t>
            </a:r>
            <a:endParaRPr lang="en-US" sz="28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600200"/>
            <a:ext cx="2456688" cy="1271016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7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600200"/>
            <a:ext cx="50292" cy="1271016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86968" y="1746504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Formulas &amp; Functions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6968" y="2075688"/>
            <a:ext cx="2072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 500 functions spanning maths, text, logic, lookup and finance.</a:t>
            </a:r>
            <a:endParaRPr lang="en-US" sz="100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3656" y="1600200"/>
            <a:ext cx="2456688" cy="1271016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11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3656" y="1600200"/>
            <a:ext cx="50292" cy="1271016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544824" y="1746504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PivotTables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44824" y="2075688"/>
            <a:ext cx="2072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Collapse thousands of rows into a cross-tab report in seconds.</a:t>
            </a:r>
            <a:endParaRPr lang="en-US" sz="1000" dirty="0"/>
          </a:p>
        </p:txBody>
      </p:sp>
      <p:sp>
        <p:nvSpPr>
          <p:cNvPr id="1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1512" y="1600200"/>
            <a:ext cx="2456688" cy="1271016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15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1512" y="1600200"/>
            <a:ext cx="50292" cy="1271016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02680" y="1746504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Charts &amp; Graphs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02680" y="2075688"/>
            <a:ext cx="2072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Twenty-plus chart types that turn a table into an argument.</a:t>
            </a:r>
            <a:endParaRPr lang="en-US" sz="1000" dirty="0"/>
          </a:p>
        </p:txBody>
      </p:sp>
      <p:sp>
        <p:nvSpPr>
          <p:cNvPr id="1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072384"/>
            <a:ext cx="2456688" cy="1271016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19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072384"/>
            <a:ext cx="50292" cy="1271016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86968" y="3218688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Conditional Formatting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86968" y="3547872"/>
            <a:ext cx="2072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Rules that colour cells automatically so exceptions surface themselves.</a:t>
            </a:r>
            <a:endParaRPr lang="en-US" sz="1000" dirty="0"/>
          </a:p>
        </p:txBody>
      </p:sp>
      <p:sp>
        <p:nvSpPr>
          <p:cNvPr id="2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3656" y="3072384"/>
            <a:ext cx="2456688" cy="1271016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23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3656" y="3072384"/>
            <a:ext cx="50292" cy="1271016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544824" y="3218688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Validation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44824" y="3547872"/>
            <a:ext cx="2072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Controlled inputs and drop-downs that defend data quality at entry.</a:t>
            </a:r>
            <a:endParaRPr lang="en-US" sz="1000" dirty="0"/>
          </a:p>
        </p:txBody>
      </p:sp>
      <p:sp>
        <p:nvSpPr>
          <p:cNvPr id="2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1512" y="3072384"/>
            <a:ext cx="2456688" cy="1271016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27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1512" y="3072384"/>
            <a:ext cx="50292" cy="1271016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202680" y="3218688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Query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02680" y="3547872"/>
            <a:ext cx="2072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Repeatable import, cleaning and reshaping of outside data.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4663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Excel — Analytical Report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63840" y="46634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1A3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ti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2A2A30">
                  <a:alpha val="72000"/>
                </a:srgbClr>
              </a:gs>
              <a:gs pos="45000">
                <a:srgbClr val="18181C">
                  <a:alpha val="68000"/>
                </a:srgbClr>
              </a:gs>
              <a:gs pos="100000">
                <a:srgbClr val="0B0B0E">
                  <a:alpha val="74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CALCULATION</a:t>
            </a:r>
            <a:endParaRPr lang="en-US" sz="10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56692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Formulas</a:t>
            </a: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Are What Make It a Model</a:t>
            </a:r>
            <a:endParaRPr lang="en-US" sz="28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44805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5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formula </a:t>
            </a:r>
            <a:r>
              <a:rPr lang="en-US" sz="13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opens </a:t>
            </a: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=, </a:t>
            </a:r>
            <a:r>
              <a:rPr lang="en-US" sz="13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points at </a:t>
            </a: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cells rather than fixed numbers, and recalculates the </a:t>
            </a:r>
            <a:r>
              <a:rPr lang="en-US" sz="13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 </a:t>
            </a: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data changes.</a:t>
            </a:r>
            <a:endParaRPr lang="en-US" sz="130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342900" indent="-342900">
              <a:lnSpc>
                <a:spcPts val="195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Relative and absolute references (A1 </a:t>
            </a:r>
            <a:r>
              <a:rPr lang="en-US" sz="13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against </a:t>
            </a: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$A$1) decide what moves when a formula is copied across a range.</a:t>
            </a:r>
            <a:endParaRPr lang="en-US" sz="130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342900" indent="-342900">
              <a:lnSpc>
                <a:spcPts val="195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Functions </a:t>
            </a:r>
            <a:r>
              <a:rPr lang="en-US" sz="13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nest</a:t>
            </a: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so </a:t>
            </a:r>
            <a:r>
              <a:rPr lang="en-US" sz="13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cell can run </a:t>
            </a: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lookup</a:t>
            </a:r>
            <a:r>
              <a:rPr lang="en-US" sz="13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test</a:t>
            </a: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 condition </a:t>
            </a:r>
            <a:r>
              <a:rPr lang="en-US" sz="13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return </a:t>
            </a: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aggregate in </a:t>
            </a:r>
            <a:r>
              <a:rPr lang="en-US" sz="13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single step</a:t>
            </a: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30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342900" indent="-342900">
              <a:lnSpc>
                <a:spcPts val="1950"/>
              </a:lnSpc>
              <a:spcAft>
                <a:spcPts val="800"/>
              </a:spcAft>
              <a:buSzPct val="100000"/>
              <a:buChar char="▪"/>
            </a:pPr>
            <a:r>
              <a:rPr lang="en-US" sz="13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 live recalculation </a:t>
            </a: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</a:t>
            </a:r>
            <a:r>
              <a:rPr lang="en-US" sz="13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precisely </a:t>
            </a: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</a:t>
            </a:r>
            <a:r>
              <a:rPr lang="en-US" sz="13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separates a working model from </a:t>
            </a: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static table.</a:t>
            </a:r>
            <a:endParaRPr lang="en-US" sz="1300" dirty="0"/>
          </a:p>
        </p:txBody>
      </p:sp>
      <p:sp>
        <p:nvSpPr>
          <p:cNvPr id="7" name="Function lis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1600200"/>
            <a:ext cx="2971800" cy="2788920"/>
          </a:xfrm>
          <a:prstGeom prst="rect">
            <a:avLst/>
          </a:prstGeom>
          <a:gradFill rotWithShape="1">
            <a:gsLst>
              <a:gs pos="0">
                <a:srgbClr val="3C3C48">
                  <a:alpha val="95000"/>
                </a:srgbClr>
              </a:gs>
              <a:gs pos="45000">
                <a:srgbClr val="26262F">
                  <a:alpha val="92000"/>
                </a:srgbClr>
              </a:gs>
              <a:gs pos="100000">
                <a:srgbClr val="141419">
                  <a:alpha val="96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715000" y="1737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MOST-USED FUNCTIONS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715000" y="21214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 / AVERAGE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15000" y="232257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Aggregate a range of values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15000" y="25786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/ IFS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15000" y="277977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 on a condition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15000" y="30358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VLOOKUP / XLOOKUP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15000" y="323697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 a matching record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15000" y="34930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COUNTIF / SUMIF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15000" y="369417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Aggregate against a criterion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15000" y="39502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/ CONCAT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15000" y="415137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Reshape and join text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4663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Excel — Analytical Report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0" y="46634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1A3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ti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FFFFF">
                  <a:alpha val="85000"/>
                </a:srgbClr>
              </a:gs>
              <a:gs pos="45000">
                <a:srgbClr val="F7F5F0">
                  <a:alpha val="82000"/>
                </a:srgbClr>
              </a:gs>
              <a:gs pos="100000">
                <a:srgbClr val="E4E0D7">
                  <a:alpha val="86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1D8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10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56692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3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Steps </a:t>
            </a:r>
            <a:r>
              <a:rPr lang="en-US" sz="2800" b="1" dirty="0">
                <a:solidFill>
                  <a:srgbClr val="13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Records to </a:t>
            </a:r>
            <a:r>
              <a:rPr lang="en-US" sz="2800" b="1">
                <a:solidFill>
                  <a:srgbClr val="13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</a:t>
            </a:r>
            <a:r>
              <a:rPr lang="en-US" sz="2800" b="1" dirty="0">
                <a:solidFill>
                  <a:srgbClr val="13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Answer</a:t>
            </a:r>
            <a:endParaRPr lang="en-US" sz="28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tep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691640"/>
            <a:ext cx="1783080" cy="2331720"/>
          </a:xfrm>
          <a:prstGeom prst="rect">
            <a:avLst/>
          </a:prstGeom>
          <a:gradFill rotWithShape="1">
            <a:gsLst>
              <a:gs pos="0">
                <a:srgbClr val="FFFFFF">
                  <a:alpha val="94000"/>
                </a:srgbClr>
              </a:gs>
              <a:gs pos="45000">
                <a:srgbClr val="F4F2EC">
                  <a:alpha val="92000"/>
                </a:srgbClr>
              </a:gs>
              <a:gs pos="100000">
                <a:srgbClr val="DFDCD4">
                  <a:alpha val="94000"/>
                </a:srgbClr>
              </a:gs>
            </a:gsLst>
            <a:lin ang="2700000" scaled="0"/>
          </a:gradFill>
          <a:ln w="9525">
            <a:solidFill>
              <a:srgbClr val="9AA0A8">
                <a:alpha val="60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7" name="Step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6968" y="1874520"/>
            <a:ext cx="475488" cy="475488"/>
          </a:xfrm>
          <a:prstGeom prst="ellipse">
            <a:avLst/>
          </a:prstGeom>
          <a:solidFill>
            <a:srgbClr val="1D8A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86968" y="1874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86968" y="24871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6968" y="2816352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4A5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 or enter records into </a:t>
            </a:r>
            <a:r>
              <a:rPr lang="en-US" sz="950">
                <a:solidFill>
                  <a:srgbClr val="4A5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</a:t>
            </a:r>
            <a:r>
              <a:rPr lang="en-US" sz="950" dirty="0">
                <a:solidFill>
                  <a:srgbClr val="4A5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clean, consistent table.</a:t>
            </a:r>
            <a:endParaRPr lang="en-US" sz="950" dirty="0"/>
          </a:p>
        </p:txBody>
      </p:sp>
      <p:sp>
        <p:nvSpPr>
          <p:cNvPr id="11" name="Step 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87168" y="2834640"/>
            <a:ext cx="146304" cy="32004"/>
          </a:xfrm>
          <a:prstGeom prst="rect">
            <a:avLst/>
          </a:prstGeom>
          <a:solidFill>
            <a:srgbClr val="9AA0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tep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51760" y="1691640"/>
            <a:ext cx="1783080" cy="2331720"/>
          </a:xfrm>
          <a:prstGeom prst="rect">
            <a:avLst/>
          </a:prstGeom>
          <a:gradFill rotWithShape="1">
            <a:gsLst>
              <a:gs pos="0">
                <a:srgbClr val="FFFFFF">
                  <a:alpha val="94000"/>
                </a:srgbClr>
              </a:gs>
              <a:gs pos="45000">
                <a:srgbClr val="F4F2EC">
                  <a:alpha val="92000"/>
                </a:srgbClr>
              </a:gs>
              <a:gs pos="100000">
                <a:srgbClr val="DFDCD4">
                  <a:alpha val="94000"/>
                </a:srgbClr>
              </a:gs>
            </a:gsLst>
            <a:lin ang="2700000" scaled="0"/>
          </a:gradFill>
          <a:ln w="9525">
            <a:solidFill>
              <a:srgbClr val="9AA0A8">
                <a:alpha val="60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13" name="Step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52928" y="1874520"/>
            <a:ext cx="475488" cy="475488"/>
          </a:xfrm>
          <a:prstGeom prst="ellipse">
            <a:avLst/>
          </a:prstGeom>
          <a:solidFill>
            <a:srgbClr val="B06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852928" y="1874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52928" y="24871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52928" y="2816352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>
                <a:solidFill>
                  <a:srgbClr val="4A5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Strip </a:t>
            </a:r>
            <a:r>
              <a:rPr lang="en-US" sz="950" dirty="0">
                <a:solidFill>
                  <a:srgbClr val="4A5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duplicates, fix types and standardise values </a:t>
            </a:r>
            <a:r>
              <a:rPr lang="en-US" sz="950">
                <a:solidFill>
                  <a:srgbClr val="4A5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r>
              <a:rPr lang="en-US" sz="950" dirty="0">
                <a:solidFill>
                  <a:srgbClr val="4A5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Power Query.</a:t>
            </a:r>
            <a:endParaRPr lang="en-US" sz="950" dirty="0"/>
          </a:p>
        </p:txBody>
      </p:sp>
      <p:sp>
        <p:nvSpPr>
          <p:cNvPr id="17" name="Step 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53128" y="2834640"/>
            <a:ext cx="146304" cy="32004"/>
          </a:xfrm>
          <a:prstGeom prst="rect">
            <a:avLst/>
          </a:prstGeom>
          <a:solidFill>
            <a:srgbClr val="9AA0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tep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1691640"/>
            <a:ext cx="1783080" cy="2331720"/>
          </a:xfrm>
          <a:prstGeom prst="rect">
            <a:avLst/>
          </a:prstGeom>
          <a:gradFill rotWithShape="1">
            <a:gsLst>
              <a:gs pos="0">
                <a:srgbClr val="FFFFFF">
                  <a:alpha val="94000"/>
                </a:srgbClr>
              </a:gs>
              <a:gs pos="45000">
                <a:srgbClr val="F4F2EC">
                  <a:alpha val="92000"/>
                </a:srgbClr>
              </a:gs>
              <a:gs pos="100000">
                <a:srgbClr val="DFDCD4">
                  <a:alpha val="94000"/>
                </a:srgbClr>
              </a:gs>
            </a:gsLst>
            <a:lin ang="2700000" scaled="0"/>
          </a:gradFill>
          <a:ln w="9525">
            <a:solidFill>
              <a:srgbClr val="9AA0A8">
                <a:alpha val="60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19" name="Step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1874520"/>
            <a:ext cx="475488" cy="475488"/>
          </a:xfrm>
          <a:prstGeom prst="ellipse">
            <a:avLst/>
          </a:prstGeom>
          <a:solidFill>
            <a:srgbClr val="1D8A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18888" y="1874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18888" y="24871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18888" y="2816352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>
                <a:solidFill>
                  <a:srgbClr val="4A5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Slice </a:t>
            </a:r>
            <a:r>
              <a:rPr lang="en-US" sz="950" dirty="0">
                <a:solidFill>
                  <a:srgbClr val="4A5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PivotTables and </a:t>
            </a:r>
            <a:r>
              <a:rPr lang="en-US" sz="950">
                <a:solidFill>
                  <a:srgbClr val="4A5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pressure-test</a:t>
            </a:r>
            <a:r>
              <a:rPr lang="en-US" sz="950" dirty="0">
                <a:solidFill>
                  <a:srgbClr val="4A5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with what-if tools.</a:t>
            </a:r>
            <a:endParaRPr lang="en-US" sz="950" dirty="0"/>
          </a:p>
        </p:txBody>
      </p:sp>
      <p:sp>
        <p:nvSpPr>
          <p:cNvPr id="23" name="Step 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19088" y="2834640"/>
            <a:ext cx="146304" cy="32004"/>
          </a:xfrm>
          <a:prstGeom prst="rect">
            <a:avLst/>
          </a:prstGeom>
          <a:solidFill>
            <a:srgbClr val="9AA0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tep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0" y="1691640"/>
            <a:ext cx="1783080" cy="2331720"/>
          </a:xfrm>
          <a:prstGeom prst="rect">
            <a:avLst/>
          </a:prstGeom>
          <a:gradFill rotWithShape="1">
            <a:gsLst>
              <a:gs pos="0">
                <a:srgbClr val="FFFFFF">
                  <a:alpha val="94000"/>
                </a:srgbClr>
              </a:gs>
              <a:gs pos="45000">
                <a:srgbClr val="F4F2EC">
                  <a:alpha val="92000"/>
                </a:srgbClr>
              </a:gs>
              <a:gs pos="100000">
                <a:srgbClr val="DFDCD4">
                  <a:alpha val="94000"/>
                </a:srgbClr>
              </a:gs>
            </a:gsLst>
            <a:lin ang="2700000" scaled="0"/>
          </a:gradFill>
          <a:ln w="9525">
            <a:solidFill>
              <a:srgbClr val="9AA0A8">
                <a:alpha val="60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25" name="Step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84848" y="1874520"/>
            <a:ext cx="475488" cy="475488"/>
          </a:xfrm>
          <a:prstGeom prst="ellipse">
            <a:avLst/>
          </a:prstGeom>
          <a:solidFill>
            <a:srgbClr val="B06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784848" y="1874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84848" y="24871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84848" y="2816352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4A5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the result and publish a dashboard people can act on.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" y="4160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Sort · Filter · PivotTable · Goal Seek · Scenario Manager · Solver · Data Model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4663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Excel — Analytical Report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63840" y="46634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D8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ti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2A2A30">
                  <a:alpha val="70000"/>
                </a:srgbClr>
              </a:gs>
              <a:gs pos="45000">
                <a:srgbClr val="18181C">
                  <a:alpha val="66000"/>
                </a:srgbClr>
              </a:gs>
              <a:gs pos="100000">
                <a:srgbClr val="0B0B0E">
                  <a:alpha val="72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VISUALISATION</a:t>
            </a:r>
            <a:endParaRPr lang="en-US" sz="10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56692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Chart Makes the Point Faster Than a Table</a:t>
            </a:r>
            <a:endParaRPr lang="en-US" sz="28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75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Column and bar charts compare categories — the default for progress by project or by owner.</a:t>
            </a:r>
            <a:endParaRPr lang="en-US" sz="125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342900" indent="-342900">
              <a:lnSpc>
                <a:spcPts val="1875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 charts </a:t>
            </a:r>
            <a:r>
              <a:rPr lang="en-US" sz="12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expose </a:t>
            </a: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movement over time; pie and doughnut charts show </a:t>
            </a:r>
            <a:r>
              <a:rPr lang="en-US" sz="12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one </a:t>
            </a: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whole</a:t>
            </a:r>
            <a:r>
              <a:rPr lang="en-US" sz="12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divides</a:t>
            </a: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25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342900" indent="-342900">
              <a:lnSpc>
                <a:spcPts val="1875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Combination charts </a:t>
            </a:r>
            <a:r>
              <a:rPr lang="en-US" sz="12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 </a:t>
            </a: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trend </a:t>
            </a:r>
            <a:r>
              <a:rPr lang="en-US" sz="12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 </a:t>
            </a: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volume, </a:t>
            </a:r>
            <a:r>
              <a:rPr lang="en-US" sz="12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is how </a:t>
            </a: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target-versus-actual </a:t>
            </a:r>
            <a:r>
              <a:rPr lang="en-US" sz="12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best read</a:t>
            </a: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25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342900" indent="-342900">
              <a:lnSpc>
                <a:spcPts val="1875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Slicers let </a:t>
            </a:r>
            <a:r>
              <a:rPr lang="en-US" sz="12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single </a:t>
            </a: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answer several questions without rebuilding it</a:t>
            </a:r>
            <a:r>
              <a:rPr lang="en-US" sz="12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once</a:t>
            </a: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250" dirty="0"/>
          </a:p>
        </p:txBody>
      </p:sp>
      <p:graphicFrame>
        <p:nvGraphicFramePr>
          <p:cNvPr id="7" name="Project progress chart" descr="Column chart of average progress: E-Commerce 78%, Event Management 64%, Inventory 55%, Mobile App 82%, Office Renovation 41%."/>
          <p:cNvGraphicFramePr/>
          <p:nvPr>
            <p:extLst>
              <p:ext uri="{D42A27DB-BD31-4B8C-83A1-F6EECF244321}">
                <p14:modId xmlns:p14="http://schemas.microsoft.com/office/powerpoint/2010/main" val="326928433"/>
              </p:ext>
            </p:extLst>
          </p:nvPr>
        </p:nvGraphicFramePr>
        <p:xfrm>
          <a:off x="4846320" y="1554480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5"/>
          <p:cNvSpPr/>
          <p:nvPr/>
        </p:nvSpPr>
        <p:spPr>
          <a:xfrm>
            <a:off x="4846320" y="4297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EF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Illustrative figures based on the attached project tracker.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" y="4663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Excel — Analytical Report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863840" y="46634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1A3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ti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6">
              <a:alpha val="6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STUDY</a:t>
            </a:r>
            <a:endParaRPr lang="en-US" sz="10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56692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Projects on One Worksheet</a:t>
            </a:r>
            <a:endParaRPr lang="en-US" sz="28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Dashboard screenshot" descr="Excel dashboard with a project-name slicer and a task-name slicer on the left, a project-wise average progress column chart, a count-of-task-items bar chart, an overall task status doughnut chart showing in-progress, pending and completed shares, and a task status by project chart."/>
          <p:cNvPicPr>
            <a:picLocks noChangeAspect="1"/>
          </p:cNvPicPr>
          <p:nvPr/>
        </p:nvPicPr>
        <p:blipFill>
          <a:blip r:embed="rId4"/>
          <a:srcRect t="3630" b="3630"/>
          <a:stretch>
            <a:fillRect/>
          </a:stretch>
        </p:blipFill>
        <p:spPr>
          <a:xfrm>
            <a:off x="685800" y="1627632"/>
            <a:ext cx="5029200" cy="2450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41330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A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attached workbook dashboard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89320" y="1627632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50"/>
              </a:lnSpc>
              <a:spcAft>
                <a:spcPts val="800"/>
              </a:spcAft>
              <a:buSzPct val="100000"/>
              <a:buChar char="▪"/>
            </a:pPr>
            <a:r>
              <a:rPr lang="en-US" sz="11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single </a:t>
            </a: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worksheet consolidates every project into </a:t>
            </a:r>
            <a:r>
              <a:rPr lang="en-US" sz="11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</a:t>
            </a: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surface.</a:t>
            </a:r>
            <a:endParaRPr lang="en-US" sz="110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342900" indent="-342900">
              <a:lnSpc>
                <a:spcPts val="1650"/>
              </a:lnSpc>
              <a:spcAft>
                <a:spcPts val="800"/>
              </a:spcAft>
              <a:buSzPct val="100000"/>
              <a:buChar char="▪"/>
            </a:pPr>
            <a:r>
              <a:rPr lang="en-US" sz="11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and task slicers re-filter </a:t>
            </a: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four visuals at once.</a:t>
            </a:r>
            <a:endParaRPr lang="en-US" sz="110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342900" indent="-342900">
              <a:lnSpc>
                <a:spcPts val="1650"/>
              </a:lnSpc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Progress, workload, status mix and per-project detail sit side by side.</a:t>
            </a:r>
            <a:endParaRPr lang="en-US" sz="110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342900" indent="-342900">
              <a:lnSpc>
                <a:spcPts val="1650"/>
              </a:lnSpc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code</a:t>
            </a:r>
            <a:r>
              <a:rPr lang="en-US" sz="11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involved</a:t>
            </a: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— only tables, PivotTables and charts.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4663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Excel — Analytical Report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863840" y="46634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1A3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ti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FFFFF">
                  <a:alpha val="85000"/>
                </a:srgbClr>
              </a:gs>
              <a:gs pos="45000">
                <a:srgbClr val="F7F5F0">
                  <a:alpha val="82000"/>
                </a:srgbClr>
              </a:gs>
              <a:gs pos="100000">
                <a:srgbClr val="E4E0D7">
                  <a:alpha val="86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1D8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STUDY</a:t>
            </a:r>
            <a:endParaRPr lang="en-US" sz="10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56692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3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Panels</a:t>
            </a:r>
            <a:r>
              <a:rPr lang="en-US" sz="2800" b="1" dirty="0">
                <a:solidFill>
                  <a:srgbClr val="13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2800" b="1">
                <a:solidFill>
                  <a:srgbClr val="13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Answering One Question</a:t>
            </a:r>
            <a:endParaRPr lang="en-US" sz="28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600200"/>
            <a:ext cx="2456688" cy="1271016"/>
          </a:xfrm>
          <a:prstGeom prst="rect">
            <a:avLst/>
          </a:prstGeom>
          <a:gradFill rotWithShape="1">
            <a:gsLst>
              <a:gs pos="0">
                <a:srgbClr val="FFFFFF">
                  <a:alpha val="92000"/>
                </a:srgbClr>
              </a:gs>
              <a:gs pos="45000">
                <a:srgbClr val="F4F2EC">
                  <a:alpha val="90000"/>
                </a:srgbClr>
              </a:gs>
              <a:gs pos="100000">
                <a:srgbClr val="DFDCD4">
                  <a:alpha val="92000"/>
                </a:srgbClr>
              </a:gs>
            </a:gsLst>
            <a:lin ang="2700000" scaled="0"/>
          </a:gradFill>
          <a:ln w="9525">
            <a:solidFill>
              <a:srgbClr val="9AA0A8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7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600200"/>
            <a:ext cx="50292" cy="1271016"/>
          </a:xfrm>
          <a:prstGeom prst="rect">
            <a:avLst/>
          </a:prstGeom>
          <a:solidFill>
            <a:srgbClr val="1D8A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86968" y="1746504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</a:t>
            </a:r>
            <a:r>
              <a:rPr lang="en-US" sz="1250" b="1">
                <a:solidFill>
                  <a:srgbClr val="132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Task Slicers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6968" y="2075688"/>
            <a:ext cx="2072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</a:t>
            </a: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 </a:t>
            </a:r>
            <a:r>
              <a:rPr lang="en-US" sz="100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lists — </a:t>
            </a: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</a:t>
            </a:r>
            <a:r>
              <a:rPr lang="en-US" sz="100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and task</a:t>
            </a: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 </a:t>
            </a:r>
            <a:r>
              <a:rPr lang="en-US" sz="100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click </a:t>
            </a: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re-filters all four visuals.</a:t>
            </a:r>
            <a:endParaRPr lang="en-US" sz="100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3656" y="1600200"/>
            <a:ext cx="2456688" cy="1271016"/>
          </a:xfrm>
          <a:prstGeom prst="rect">
            <a:avLst/>
          </a:prstGeom>
          <a:gradFill rotWithShape="1">
            <a:gsLst>
              <a:gs pos="0">
                <a:srgbClr val="FFFFFF">
                  <a:alpha val="92000"/>
                </a:srgbClr>
              </a:gs>
              <a:gs pos="45000">
                <a:srgbClr val="F4F2EC">
                  <a:alpha val="90000"/>
                </a:srgbClr>
              </a:gs>
              <a:gs pos="100000">
                <a:srgbClr val="DFDCD4">
                  <a:alpha val="92000"/>
                </a:srgbClr>
              </a:gs>
            </a:gsLst>
            <a:lin ang="2700000" scaled="0"/>
          </a:gradFill>
          <a:ln w="9525">
            <a:solidFill>
              <a:srgbClr val="9AA0A8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11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3656" y="1600200"/>
            <a:ext cx="50292" cy="1271016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544824" y="1746504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Progress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44824" y="2075688"/>
            <a:ext cx="2072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 </a:t>
            </a: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completion per project. </a:t>
            </a:r>
            <a:r>
              <a:rPr lang="en-US" sz="100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Shows what </a:t>
            </a: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on track and </a:t>
            </a:r>
            <a:r>
              <a:rPr lang="en-US" sz="100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has stalled.</a:t>
            </a:r>
            <a:endParaRPr lang="en-US" sz="1000" dirty="0"/>
          </a:p>
        </p:txBody>
      </p:sp>
      <p:sp>
        <p:nvSpPr>
          <p:cNvPr id="1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1512" y="1600200"/>
            <a:ext cx="2456688" cy="1271016"/>
          </a:xfrm>
          <a:prstGeom prst="rect">
            <a:avLst/>
          </a:prstGeom>
          <a:gradFill rotWithShape="1">
            <a:gsLst>
              <a:gs pos="0">
                <a:srgbClr val="FFFFFF">
                  <a:alpha val="92000"/>
                </a:srgbClr>
              </a:gs>
              <a:gs pos="45000">
                <a:srgbClr val="F4F2EC">
                  <a:alpha val="90000"/>
                </a:srgbClr>
              </a:gs>
              <a:gs pos="100000">
                <a:srgbClr val="DFDCD4">
                  <a:alpha val="92000"/>
                </a:srgbClr>
              </a:gs>
            </a:gsLst>
            <a:lin ang="2700000" scaled="0"/>
          </a:gradFill>
          <a:ln w="9525">
            <a:solidFill>
              <a:srgbClr val="9AA0A8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15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1512" y="1600200"/>
            <a:ext cx="50292" cy="1271016"/>
          </a:xfrm>
          <a:prstGeom prst="rect">
            <a:avLst/>
          </a:prstGeom>
          <a:solidFill>
            <a:srgbClr val="1D8A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02680" y="1746504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Count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02680" y="2075688"/>
            <a:ext cx="2072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</a:t>
            </a: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items per project, exposing where </a:t>
            </a:r>
            <a:r>
              <a:rPr lang="en-US" sz="100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</a:t>
            </a: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workload </a:t>
            </a:r>
            <a:r>
              <a:rPr lang="en-US" sz="100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actually sits</a:t>
            </a: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000" dirty="0"/>
          </a:p>
        </p:txBody>
      </p:sp>
      <p:sp>
        <p:nvSpPr>
          <p:cNvPr id="1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072384"/>
            <a:ext cx="2456688" cy="1271016"/>
          </a:xfrm>
          <a:prstGeom prst="rect">
            <a:avLst/>
          </a:prstGeom>
          <a:gradFill rotWithShape="1">
            <a:gsLst>
              <a:gs pos="0">
                <a:srgbClr val="FFFFFF">
                  <a:alpha val="92000"/>
                </a:srgbClr>
              </a:gs>
              <a:gs pos="45000">
                <a:srgbClr val="F4F2EC">
                  <a:alpha val="90000"/>
                </a:srgbClr>
              </a:gs>
              <a:gs pos="100000">
                <a:srgbClr val="DFDCD4">
                  <a:alpha val="92000"/>
                </a:srgbClr>
              </a:gs>
            </a:gsLst>
            <a:lin ang="2700000" scaled="0"/>
          </a:gradFill>
          <a:ln w="9525">
            <a:solidFill>
              <a:srgbClr val="9AA0A8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19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072384"/>
            <a:ext cx="50292" cy="1271016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86968" y="3218688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Overall Status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86968" y="3547872"/>
            <a:ext cx="2072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Pending</a:t>
            </a: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in-progress and completed — </a:t>
            </a:r>
            <a:r>
              <a:rPr lang="en-US" sz="100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overall </a:t>
            </a: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</a:t>
            </a:r>
            <a:r>
              <a:rPr lang="en-US" sz="100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a</a:t>
            </a: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glance.</a:t>
            </a:r>
            <a:endParaRPr lang="en-US" sz="1000" dirty="0"/>
          </a:p>
        </p:txBody>
      </p:sp>
      <p:sp>
        <p:nvSpPr>
          <p:cNvPr id="2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3656" y="3072384"/>
            <a:ext cx="2456688" cy="1271016"/>
          </a:xfrm>
          <a:prstGeom prst="rect">
            <a:avLst/>
          </a:prstGeom>
          <a:gradFill rotWithShape="1">
            <a:gsLst>
              <a:gs pos="0">
                <a:srgbClr val="FFFFFF">
                  <a:alpha val="92000"/>
                </a:srgbClr>
              </a:gs>
              <a:gs pos="45000">
                <a:srgbClr val="F4F2EC">
                  <a:alpha val="90000"/>
                </a:srgbClr>
              </a:gs>
              <a:gs pos="100000">
                <a:srgbClr val="DFDCD4">
                  <a:alpha val="92000"/>
                </a:srgbClr>
              </a:gs>
            </a:gsLst>
            <a:lin ang="2700000" scaled="0"/>
          </a:gradFill>
          <a:ln w="9525">
            <a:solidFill>
              <a:srgbClr val="9AA0A8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23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3656" y="3072384"/>
            <a:ext cx="50292" cy="1271016"/>
          </a:xfrm>
          <a:prstGeom prst="rect">
            <a:avLst/>
          </a:prstGeom>
          <a:solidFill>
            <a:srgbClr val="1D8A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544824" y="3218688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by Project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44824" y="3547872"/>
            <a:ext cx="2072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Drills </a:t>
            </a: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 overall mix down to each individual project.</a:t>
            </a:r>
            <a:endParaRPr lang="en-US" sz="1000" dirty="0"/>
          </a:p>
        </p:txBody>
      </p:sp>
      <p:sp>
        <p:nvSpPr>
          <p:cNvPr id="2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1512" y="3072384"/>
            <a:ext cx="2456688" cy="1271016"/>
          </a:xfrm>
          <a:prstGeom prst="rect">
            <a:avLst/>
          </a:prstGeom>
          <a:gradFill rotWithShape="1">
            <a:gsLst>
              <a:gs pos="0">
                <a:srgbClr val="FFFFFF">
                  <a:alpha val="92000"/>
                </a:srgbClr>
              </a:gs>
              <a:gs pos="45000">
                <a:srgbClr val="F4F2EC">
                  <a:alpha val="90000"/>
                </a:srgbClr>
              </a:gs>
              <a:gs pos="100000">
                <a:srgbClr val="DFDCD4">
                  <a:alpha val="92000"/>
                </a:srgbClr>
              </a:gs>
            </a:gsLst>
            <a:lin ang="2700000" scaled="0"/>
          </a:gradFill>
          <a:ln w="9525">
            <a:solidFill>
              <a:srgbClr val="9AA0A8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27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1512" y="3072384"/>
            <a:ext cx="50292" cy="1271016"/>
          </a:xfrm>
          <a:prstGeom prst="rect">
            <a:avLst/>
          </a:prstGeom>
          <a:solidFill>
            <a:srgbClr val="1D8A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202680" y="3218688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Underlying Table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02680" y="3547872"/>
            <a:ext cx="2072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</a:t>
            </a: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source table </a:t>
            </a:r>
            <a:r>
              <a:rPr lang="en-US" sz="100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feeds </a:t>
            </a: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</a:t>
            </a:r>
            <a:r>
              <a:rPr lang="en-US" sz="100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</a:t>
            </a: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so </a:t>
            </a:r>
            <a:r>
              <a:rPr lang="en-US" sz="100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single </a:t>
            </a: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refreshes </a:t>
            </a:r>
            <a:r>
              <a:rPr lang="en-US" sz="100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</a:t>
            </a:r>
            <a:r>
              <a:rPr lang="en-US" sz="1000" dirty="0">
                <a:solidFill>
                  <a:srgbClr val="3C4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4663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Excel — Analytical Report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63840" y="46634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D8A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ti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6">
              <a:alpha val="6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56692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Powerful to a Point — Then It</a:t>
            </a: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Stops</a:t>
            </a:r>
            <a:endParaRPr lang="en-US" sz="28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trengths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600200"/>
            <a:ext cx="3794760" cy="2743200"/>
          </a:xfrm>
          <a:prstGeom prst="rect">
            <a:avLst/>
          </a:prstGeom>
          <a:gradFill rotWithShape="1">
            <a:gsLst>
              <a:gs pos="0">
                <a:srgbClr val="3C3C48">
                  <a:alpha val="94000"/>
                </a:srgbClr>
              </a:gs>
              <a:gs pos="45000">
                <a:srgbClr val="26262F">
                  <a:alpha val="90000"/>
                </a:srgbClr>
              </a:gs>
              <a:gs pos="100000">
                <a:srgbClr val="141419">
                  <a:alpha val="95000"/>
                </a:srgbClr>
              </a:gs>
            </a:gsLst>
            <a:lin ang="2700000" scaled="0"/>
          </a:gradFill>
          <a:ln w="12700">
            <a:solidFill>
              <a:srgbClr val="21A366">
                <a:alpha val="6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17556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21A3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121408"/>
            <a:ext cx="3337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barrier to entry — no developer </a:t>
            </a:r>
            <a:r>
              <a:rPr lang="en-US" sz="11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required</a:t>
            </a: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15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 to build</a:t>
            </a:r>
            <a:r>
              <a:rPr lang="en-US" sz="11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</a:t>
            </a: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and </a:t>
            </a:r>
            <a:r>
              <a:rPr lang="en-US" sz="11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just as </a:t>
            </a: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 to change.</a:t>
            </a:r>
            <a:endParaRPr lang="en-US" sz="115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Universally available and </a:t>
            </a:r>
            <a:r>
              <a:rPr lang="en-US" sz="11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effortless </a:t>
            </a: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share.</a:t>
            </a:r>
            <a:endParaRPr lang="en-US" sz="115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▪"/>
            </a:pPr>
            <a:r>
              <a:rPr lang="en-US" sz="11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Calculation</a:t>
            </a: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analysis and reporting in one file.</a:t>
            </a:r>
            <a:endParaRPr lang="en-US" sz="1150" dirty="0"/>
          </a:p>
        </p:txBody>
      </p:sp>
      <p:sp>
        <p:nvSpPr>
          <p:cNvPr id="9" name="Limitations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600200"/>
            <a:ext cx="3794760" cy="2743200"/>
          </a:xfrm>
          <a:prstGeom prst="rect">
            <a:avLst/>
          </a:prstGeom>
          <a:gradFill rotWithShape="1">
            <a:gsLst>
              <a:gs pos="0">
                <a:srgbClr val="3C3C48">
                  <a:alpha val="94000"/>
                </a:srgbClr>
              </a:gs>
              <a:gs pos="45000">
                <a:srgbClr val="26262F">
                  <a:alpha val="90000"/>
                </a:srgbClr>
              </a:gs>
              <a:gs pos="100000">
                <a:srgbClr val="141419">
                  <a:alpha val="95000"/>
                </a:srgbClr>
              </a:gs>
            </a:gsLst>
            <a:lin ang="2700000" scaled="0"/>
          </a:gradFill>
          <a:ln w="12700">
            <a:solidFill>
              <a:srgbClr val="F2A93B">
                <a:alpha val="6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92040" y="17556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2121408"/>
            <a:ext cx="3337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entry invites </a:t>
            </a:r>
            <a:r>
              <a:rPr lang="en-US" sz="11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errors that go </a:t>
            </a: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undetected.</a:t>
            </a:r>
            <a:endParaRPr lang="en-US" sz="115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degrades on very large datasets.</a:t>
            </a:r>
            <a:endParaRPr lang="en-US" sz="115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control across teams is weak.</a:t>
            </a:r>
            <a:endParaRPr lang="en-US" sz="115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342900" indent="-342900">
              <a:lnSpc>
                <a:spcPts val="1725"/>
              </a:lnSpc>
              <a:spcAft>
                <a:spcPts val="800"/>
              </a:spcAft>
              <a:buSzPct val="100000"/>
              <a:buChar char="▪"/>
            </a:pPr>
            <a:r>
              <a:rPr lang="en-US" sz="11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</a:t>
            </a: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trail and access control</a:t>
            </a:r>
            <a:r>
              <a:rPr lang="en-US" sz="115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are limited</a:t>
            </a: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4663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Excel — Analytical Report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63840" y="46634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1A3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ti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2A2A30">
                  <a:alpha val="72000"/>
                </a:srgbClr>
              </a:gs>
              <a:gs pos="45000">
                <a:srgbClr val="18181C">
                  <a:alpha val="68000"/>
                </a:srgbClr>
              </a:gs>
              <a:gs pos="100000">
                <a:srgbClr val="0B0B0E">
                  <a:alpha val="74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10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56692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Habits of a </a:t>
            </a: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Trusted</a:t>
            </a: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Workbook</a:t>
            </a:r>
            <a:endParaRPr lang="en-US" sz="28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600200"/>
            <a:ext cx="2456688" cy="1271016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7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600200"/>
            <a:ext cx="50292" cy="1271016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86968" y="1746504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Separate the layers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6968" y="2075688"/>
            <a:ext cx="2072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raw data, calculation and presentation on separate sheets.</a:t>
            </a:r>
            <a:endParaRPr lang="en-US" sz="100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3656" y="1600200"/>
            <a:ext cx="2456688" cy="1271016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11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3656" y="1600200"/>
            <a:ext cx="50292" cy="1271016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544824" y="1746504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named ranges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44824" y="2075688"/>
            <a:ext cx="2072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Readable names beat opaque cell references under audit.</a:t>
            </a:r>
            <a:endParaRPr lang="en-US" sz="1000" dirty="0"/>
          </a:p>
        </p:txBody>
      </p:sp>
      <p:sp>
        <p:nvSpPr>
          <p:cNvPr id="1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1512" y="1600200"/>
            <a:ext cx="2456688" cy="1271016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15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1512" y="1600200"/>
            <a:ext cx="50292" cy="1271016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02680" y="1746504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 inputs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02680" y="2075688"/>
            <a:ext cx="2072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Drop-downs and rules stop bad data at the point of entry.</a:t>
            </a:r>
            <a:endParaRPr lang="en-US" sz="1000" dirty="0"/>
          </a:p>
        </p:txBody>
      </p:sp>
      <p:sp>
        <p:nvSpPr>
          <p:cNvPr id="1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072384"/>
            <a:ext cx="2456688" cy="1271016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19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072384"/>
            <a:ext cx="50292" cy="1271016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86968" y="3218688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assumptions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86968" y="3547872"/>
            <a:ext cx="2072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every rate and constant openly, never buried in a formula.</a:t>
            </a:r>
            <a:endParaRPr lang="en-US" sz="1000" dirty="0"/>
          </a:p>
        </p:txBody>
      </p:sp>
      <p:sp>
        <p:nvSpPr>
          <p:cNvPr id="2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3656" y="3072384"/>
            <a:ext cx="2456688" cy="1271016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23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3656" y="3072384"/>
            <a:ext cx="50292" cy="1271016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544824" y="3218688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deliberately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44824" y="3547872"/>
            <a:ext cx="2072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one master in a shared location; never email copies.</a:t>
            </a:r>
            <a:endParaRPr lang="en-US" sz="1000" dirty="0"/>
          </a:p>
        </p:txBody>
      </p:sp>
      <p:sp>
        <p:nvSpPr>
          <p:cNvPr id="2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1512" y="3072384"/>
            <a:ext cx="2456688" cy="1271016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27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1512" y="3072384"/>
            <a:ext cx="50292" cy="1271016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202680" y="3218688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before sharing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02680" y="3547872"/>
            <a:ext cx="2072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 precedents and test edge cases before a number is published.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4663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AA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Excel — Analytical Report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63840" y="46634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1A3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ti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6">
              <a:alpha val="66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6858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 &amp; CONCLUSION</a:t>
            </a:r>
            <a:endParaRPr lang="en-US" sz="10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56692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Bottom Line</a:t>
            </a:r>
            <a:endParaRPr lang="en-US" sz="28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onclusion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572768"/>
            <a:ext cx="7772400" cy="822960"/>
          </a:xfrm>
          <a:prstGeom prst="rect">
            <a:avLst/>
          </a:prstGeom>
          <a:gradFill rotWithShape="1">
            <a:gsLst>
              <a:gs pos="0">
                <a:srgbClr val="3C3C48">
                  <a:alpha val="95000"/>
                </a:srgbClr>
              </a:gs>
              <a:gs pos="45000">
                <a:srgbClr val="26262F">
                  <a:alpha val="92000"/>
                </a:srgbClr>
              </a:gs>
              <a:gs pos="100000">
                <a:srgbClr val="141419">
                  <a:alpha val="96000"/>
                </a:srgbClr>
              </a:gs>
            </a:gsLst>
            <a:lin ang="2700000" scaled="0"/>
          </a:gradFill>
          <a:ln w="12700">
            <a:solidFill>
              <a:srgbClr val="F2A93B">
                <a:alpha val="6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7" name="Conclusion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572768"/>
            <a:ext cx="54864" cy="822960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7360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 </a:t>
            </a:r>
            <a:r>
              <a:rPr lang="en-US" sz="1300" i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still </a:t>
            </a: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fastest route from raw business data to a decision. Used with discipline — clean structure, validated inputs and a clear dashboard — it </a:t>
            </a:r>
            <a:r>
              <a:rPr lang="en-US" sz="1300" i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returns </a:t>
            </a: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analytical value far beyond </a:t>
            </a:r>
            <a:r>
              <a:rPr lang="en-US" sz="1300" i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costs</a:t>
            </a: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578608"/>
            <a:ext cx="2456688" cy="1463040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10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578608"/>
            <a:ext cx="50292" cy="1463040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86968" y="2724912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86968" y="3054096"/>
            <a:ext cx="207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 stores, calculates, analyses and visualises business data in one accessible file.</a:t>
            </a:r>
            <a:endParaRPr lang="en-US" sz="1000" dirty="0"/>
          </a:p>
        </p:txBody>
      </p:sp>
      <p:sp>
        <p:nvSpPr>
          <p:cNvPr id="13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3656" y="2578608"/>
            <a:ext cx="2456688" cy="1463040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14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3656" y="2578608"/>
            <a:ext cx="50292" cy="1463040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544824" y="2724912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44824" y="3054096"/>
            <a:ext cx="207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dashboard turns five projects of task data into an at-a-glance health view.</a:t>
            </a:r>
            <a:endParaRPr lang="en-US" sz="1000" dirty="0"/>
          </a:p>
        </p:txBody>
      </p:sp>
      <p:sp>
        <p:nvSpPr>
          <p:cNvPr id="17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1512" y="2578608"/>
            <a:ext cx="2456688" cy="1463040"/>
          </a:xfrm>
          <a:prstGeom prst="rect">
            <a:avLst/>
          </a:prstGeom>
          <a:gradFill rotWithShape="1">
            <a:gsLst>
              <a:gs pos="0">
                <a:srgbClr val="3C3C48">
                  <a:alpha val="90000"/>
                </a:srgbClr>
              </a:gs>
              <a:gs pos="45000">
                <a:srgbClr val="26262F">
                  <a:alpha val="86000"/>
                </a:srgbClr>
              </a:gs>
              <a:gs pos="100000">
                <a:srgbClr val="141419">
                  <a:alpha val="92000"/>
                </a:srgbClr>
              </a:gs>
            </a:gsLst>
            <a:lin ang="2700000" scaled="0"/>
          </a:gradFill>
          <a:ln w="9525">
            <a:solidFill>
              <a:srgbClr val="21A366">
                <a:alpha val="55000"/>
              </a:srgbClr>
            </a:solidFill>
            <a:prstDash val="solid"/>
          </a:ln>
          <a:effectLst>
            <a:outerShdw blurRad="266700" dist="95250" dir="27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 prstMaterial="plastic">
            <a:bevelT w="44450" h="28575" prst="softRound"/>
          </a:sp3d>
        </p:spPr>
        <p:txBody>
          <a:bodyPr/>
          <a:lstStyle/>
          <a:p>
            <a:endParaRPr lang="en-IN"/>
          </a:p>
        </p:txBody>
      </p:sp>
      <p:sp>
        <p:nvSpPr>
          <p:cNvPr id="18" name="Card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1512" y="2578608"/>
            <a:ext cx="50292" cy="1463040"/>
          </a:xfrm>
          <a:prstGeom prst="rect">
            <a:avLst/>
          </a:prstGeom>
          <a:solidFill>
            <a:srgbClr val="21A3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202680" y="2724912"/>
            <a:ext cx="207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02680" y="3054096"/>
            <a:ext cx="207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>
                <a:solidFill>
                  <a:srgbClr val="DCD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 the structure and habits above; move to a database only when scale demands it.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42245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1338</Words>
  <Application>Microsoft Office PowerPoint</Application>
  <PresentationFormat>On-screen Show (16:9)</PresentationFormat>
  <Paragraphs>209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Georgia</vt:lpstr>
      <vt:lpstr>Trebuchet MS</vt:lpstr>
      <vt:lpstr>Office Theme</vt:lpstr>
      <vt:lpstr>Microsoft Excel: From Raw Data to Confident Decisions</vt:lpstr>
      <vt:lpstr>Six Sections, One Argument for Excel</vt:lpstr>
      <vt:lpstr>Every Department Already Runs on Excel</vt:lpstr>
      <vt:lpstr>A Grid, an Engine, a Report</vt:lpstr>
      <vt:lpstr>Every Team Already Depends on It</vt:lpstr>
      <vt:lpstr>Core Capabilities</vt:lpstr>
      <vt:lpstr>Six Features Carry Most of the Workload</vt:lpstr>
      <vt:lpstr>Formulas Are What Make It a Model</vt:lpstr>
      <vt:lpstr>Four Steps From Raw Records to an Answer</vt:lpstr>
      <vt:lpstr>A Chart Makes the Point Faster Than a Table</vt:lpstr>
      <vt:lpstr>Five Projects on One Worksheet</vt:lpstr>
      <vt:lpstr>Six Panels, Each Answering One Question</vt:lpstr>
      <vt:lpstr>Powerful to a Point — Then It Stops</vt:lpstr>
      <vt:lpstr>Six Habits of a Trusted Workbook</vt:lpstr>
      <vt:lpstr>The Bottom 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Gtec Perumbavoor</dc:creator>
  <cp:lastModifiedBy>Gtec Perumbavoor</cp:lastModifiedBy>
  <cp:revision>2</cp:revision>
  <dcterms:created xsi:type="dcterms:W3CDTF">2026-09-18T04:15:31Z</dcterms:created>
  <dcterms:modified xsi:type="dcterms:W3CDTF">2026-09-18T05:20:35Z</dcterms:modified>
</cp:coreProperties>
</file>